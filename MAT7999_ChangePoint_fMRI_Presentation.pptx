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5" r:id="rId6"/>
    <p:sldId id="263" r:id="rId7"/>
    <p:sldId id="264" r:id="rId8"/>
    <p:sldId id="270" r:id="rId9"/>
    <p:sldId id="265" r:id="rId10"/>
    <p:sldId id="276" r:id="rId11"/>
    <p:sldId id="267" r:id="rId12"/>
    <p:sldId id="268" r:id="rId13"/>
    <p:sldId id="271" r:id="rId14"/>
    <p:sldId id="272" r:id="rId15"/>
    <p:sldId id="273" r:id="rId16"/>
    <p:sldId id="27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–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–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–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04"/>
    <p:restoredTop sz="94703"/>
  </p:normalViewPr>
  <p:slideViewPr>
    <p:cSldViewPr snapToGrid="0">
      <p:cViewPr varScale="1">
        <p:scale>
          <a:sx n="112" d="100"/>
          <a:sy n="112" d="100"/>
        </p:scale>
        <p:origin x="224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E2DB2-9057-C714-D7CF-EE9508C875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BAA38B-75BB-0A8D-E450-CAD994DFD9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27C4F-7C20-2B46-8B68-12F59D5ED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A045-4C70-D74D-A061-3195ADFAD83E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C90DD-572F-F59D-E8AD-03BFFCEF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A849D-23F9-C55D-16D0-9B5549C97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A2AE-E001-E64F-A5E1-7E1064854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9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7A5FE-1534-E269-13F3-1ABC885D4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ACBA9-74B7-55F8-ADF3-37BC13915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30121-43F2-798E-B508-8AAA71948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A045-4C70-D74D-A061-3195ADFAD83E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638D5-F4A3-BB75-75C3-9A6FDFE0C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1D28C-C3A4-9763-4032-64C7B6724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A2AE-E001-E64F-A5E1-7E1064854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423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F6519-A512-6DD2-92C0-DCE652CDA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A7299-61A6-685D-0E09-7034BB69D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3D345-8394-B8CD-2A91-313D9EEEB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A045-4C70-D74D-A061-3195ADFAD83E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4E9C6-2E9E-8A18-9828-A3F1C97F0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71D11-F40D-ACA3-8A64-395F2949F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A2AE-E001-E64F-A5E1-7E1064854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219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E7624-5DC0-1B43-D406-A0471C77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00203-2A4B-6867-B398-773DDAD52F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F29368-3DA9-F2DD-BD45-B2F22439F1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787B2-A66D-6674-C6A7-EFC48E443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A045-4C70-D74D-A061-3195ADFAD83E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1DE438-7875-07C6-9B90-E13A9FBC7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4EB84F-A62C-C3A4-00EF-D6E7BFE86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A2AE-E001-E64F-A5E1-7E1064854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624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A9739-95AC-D47C-A5D1-47208E2EC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D30DE-2574-BB4F-0CD4-4789B302E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56D872-E570-F37B-04EA-4C7A2B4346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4A61D7-F002-F8B2-5181-EA86362062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24EB78-81D9-AA51-4405-D63445E0EF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901F59-E8A4-B6B2-F8E1-95E40D520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A045-4C70-D74D-A061-3195ADFAD83E}" type="datetimeFigureOut">
              <a:rPr lang="en-US" smtClean="0"/>
              <a:t>4/26/26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AC39AD-FD5F-14D6-83F1-C53544F55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5386E0-81E9-8BD5-C015-00A4E41FE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A2AE-E001-E64F-A5E1-7E1064854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823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ABD5F-2FCF-A030-F567-C28628A07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22E40A-6131-A5FC-CAE4-047E579EC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A045-4C70-D74D-A061-3195ADFAD83E}" type="datetimeFigureOut">
              <a:rPr lang="en-US" smtClean="0"/>
              <a:t>4/26/26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D2A9A9-15BF-4051-957C-E2705B488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5F0AAC-4802-A6ED-F47D-5520A3894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A2AE-E001-E64F-A5E1-7E1064854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378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556531-2B1E-DE28-2F37-2746E6373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A045-4C70-D74D-A061-3195ADFAD83E}" type="datetimeFigureOut">
              <a:rPr lang="en-US" smtClean="0"/>
              <a:t>4/26/26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2E438D-EE82-F15B-DEC8-177147F69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477C2-06C4-49D9-074D-DDF19088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A2AE-E001-E64F-A5E1-7E1064854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955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5248B-E33A-9E6D-C78D-52A5C3468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C36EA-FD71-0B11-1D00-D795FB5AD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7239D-B95F-A116-EBB7-BAC6236900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E93A49-DCCB-CB86-E487-ED9429D0F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A045-4C70-D74D-A061-3195ADFAD83E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49C49-E828-D222-436A-7BDA17D1B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6741D9-FD47-32E7-F464-3DAC1B2B0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A2AE-E001-E64F-A5E1-7E1064854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677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A1BCE-FF7B-AF3F-B3AA-973C542BF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FA8760-81BB-EC6B-C6BF-4F01E01597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9B5529-5DE1-9D3D-80BC-44C07E712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548B50-FE83-940F-6160-A8468B8D4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A045-4C70-D74D-A061-3195ADFAD83E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BEF0CB-8377-50AB-3354-F1CB847AC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94602C-1474-84CC-0D5D-FDE5AA0B9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A2AE-E001-E64F-A5E1-7E1064854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530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F86F3-3CB9-DE7E-032A-4FBB688F2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4C9FC7-AD2A-3B4E-DD0C-96BA709B08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3B681-C70F-76BC-A40F-3B995E9D9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A045-4C70-D74D-A061-3195ADFAD83E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101FE-69EA-FBA2-7C9E-ADEBE4EB8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352DC-55EC-1C90-5AEC-C10AF5802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A2AE-E001-E64F-A5E1-7E1064854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348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144945-98D3-0B92-BF8E-60E3B6F2E6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5F219A-3457-DF53-4EF3-CA199B4D1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9F743-81AD-FA62-4360-36B6F57A8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A045-4C70-D74D-A061-3195ADFAD83E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7D0DD-7471-55A1-5602-85F24DAB3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74695-668E-980B-A5C2-1999CB674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A2AE-E001-E64F-A5E1-7E1064854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09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D15D65-A927-9C58-3013-478BCB1DF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2D07C-315E-AB66-DAF8-E7019CAE3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7D2FD-4E5F-8B61-469F-34C7B53A4B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CEA045-4C70-D74D-A061-3195ADFAD83E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10AB6-BDE9-D38B-5CE4-756A95A85C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F6103-4651-58D9-6999-9DA67132C6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E4A2AE-E001-E64F-A5E1-7E1064854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589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mailto:nii@.Data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7FA2A-07E0-2825-A504-AD324A6EF3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68214"/>
          </a:xfrm>
        </p:spPr>
        <p:txBody>
          <a:bodyPr>
            <a:normAutofit/>
          </a:bodyPr>
          <a:lstStyle/>
          <a:p>
            <a:r>
              <a:rPr lang="en-GB" sz="3200" b="1" dirty="0"/>
              <a:t>Graph-Based Change Point Detection in fMRI Data</a:t>
            </a:r>
            <a:endParaRPr lang="en-US" sz="3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4BDA68-B2D4-5ED8-76A6-E200D371E4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57758"/>
            <a:ext cx="9144000" cy="1655762"/>
          </a:xfrm>
        </p:spPr>
        <p:txBody>
          <a:bodyPr>
            <a:normAutofit/>
          </a:bodyPr>
          <a:lstStyle/>
          <a:p>
            <a:r>
              <a:rPr lang="en-GB" sz="2200" b="1" dirty="0"/>
              <a:t>By Andrew Olson</a:t>
            </a:r>
            <a:br>
              <a:rPr lang="en-GB" sz="2000" dirty="0"/>
            </a:br>
            <a:r>
              <a:rPr lang="en-GB" sz="2000" dirty="0"/>
              <a:t>Wayne State University</a:t>
            </a:r>
            <a:br>
              <a:rPr lang="en-GB" sz="2000" dirty="0"/>
            </a:br>
            <a:r>
              <a:rPr lang="en-GB" sz="2000" dirty="0"/>
              <a:t>M.A. Applied Mathematics</a:t>
            </a:r>
            <a:br>
              <a:rPr lang="en-GB" sz="2000" dirty="0"/>
            </a:br>
            <a:r>
              <a:rPr lang="en-GB" sz="2000" dirty="0"/>
              <a:t>April 2026</a:t>
            </a:r>
          </a:p>
          <a:p>
            <a:r>
              <a:rPr lang="en-GB" sz="2000" dirty="0"/>
              <a:t>Advisor: Dr. Xiaoli Kong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BC80FF-5C5C-74AF-71E5-1880DD1DA023}"/>
              </a:ext>
            </a:extLst>
          </p:cNvPr>
          <p:cNvSpPr txBox="1"/>
          <p:nvPr/>
        </p:nvSpPr>
        <p:spPr>
          <a:xfrm>
            <a:off x="10108019" y="6315740"/>
            <a:ext cx="2083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MAT 7999 Final Project</a:t>
            </a:r>
          </a:p>
        </p:txBody>
      </p:sp>
    </p:spTree>
    <p:extLst>
      <p:ext uri="{BB962C8B-B14F-4D97-AF65-F5344CB8AC3E}">
        <p14:creationId xmlns:p14="http://schemas.microsoft.com/office/powerpoint/2010/main" val="1210733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660DD-D960-913C-BAC5-CA65B743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/>
              <a:t>Why Use fMRI Data for Graph-Based C-P Detection?</a:t>
            </a:r>
            <a:endParaRPr lang="en-US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57234-ECA4-C846-EEF5-82D7E3BAC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2400" dirty="0"/>
              <a:t>Each time point is a high-dimensional brain state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GB" sz="2400" dirty="0"/>
              <a:t>Graph methods compare observations by similarity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This lets us study changes in multivariate structure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Standard R methods are useful comparisons, but more limited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38098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866D5-CE55-1468-C490-F7DAF2E83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Experimental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CBB0C-FB20-0EA7-F6D9-95053AFA2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20 subjects completed an fMRI neurofeedback experiment</a:t>
            </a:r>
          </a:p>
          <a:p>
            <a:pPr marL="0" indent="0">
              <a:buNone/>
            </a:pPr>
            <a:endParaRPr lang="en-US" dirty="0"/>
          </a:p>
          <a:p>
            <a:r>
              <a:rPr lang="en-GB" dirty="0"/>
              <a:t>The experiment targeted dynamic facial-expression processing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Subjects imagined different facial expressions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GB" dirty="0"/>
              <a:t>Runs included visual, auditory , and zero feedback</a:t>
            </a:r>
          </a:p>
          <a:p>
            <a:pPr marL="0" indent="0">
              <a:buNone/>
            </a:pPr>
            <a:endParaRPr lang="en-US" dirty="0"/>
          </a:p>
          <a:p>
            <a:r>
              <a:rPr lang="en-GB" dirty="0"/>
              <a:t>Task blocks give a reason to expect changes over time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82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05F89-81A8-0860-0051-DFC5C0143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From fMRI Scans to a Time Series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7DF46-4618-CC83-1ACF-075B51640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Each run contains 300 brain scans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Each time point contains the collection of</a:t>
            </a:r>
          </a:p>
          <a:p>
            <a:pPr marL="0" indent="0">
              <a:buNone/>
            </a:pPr>
            <a:r>
              <a:rPr lang="en-US" dirty="0"/>
              <a:t>    BOLD signals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 perform masking to lose voxels with no contribution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PCA was used before applying change point methods</a:t>
            </a:r>
          </a:p>
        </p:txBody>
      </p:sp>
      <p:pic>
        <p:nvPicPr>
          <p:cNvPr id="5" name="Picture 4" descr="A close-up of a brain scan&#10;&#10;AI-generated content may be incorrect.">
            <a:extLst>
              <a:ext uri="{FF2B5EF4-FFF2-40B4-BE49-F238E27FC236}">
                <a16:creationId xmlns:a16="http://schemas.microsoft.com/office/drawing/2014/main" id="{120F6393-EAA4-181C-AEDC-26A6FE98C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3993" y="505096"/>
            <a:ext cx="3000103" cy="3000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381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F9905-5CEC-CFA7-C269-A79A359E6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Data 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4E706-2A3D-70E7-9342-E348ECCEE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Load the subject’s BOLD scan from the </a:t>
            </a:r>
            <a:r>
              <a:rPr lang="en-US" dirty="0" err="1"/>
              <a:t>NIfTY</a:t>
            </a:r>
            <a:r>
              <a:rPr lang="en-US" dirty="0"/>
              <a:t> file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nii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&lt;-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readNIfTI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bold_path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, reorient = FALSE) 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Extract the 4-dim image array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img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&lt;- 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  <a:hlinkClick r:id="rId2"/>
              </a:rPr>
              <a:t>nii@.Data</a:t>
            </a:r>
            <a:r>
              <a:rPr lang="en-US" sz="2200" dirty="0"/>
              <a:t>,         (64 x 64 x 33 x 300)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Remove background with masking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mask &lt;- </a:t>
            </a:r>
            <a:r>
              <a:rPr lang="en-US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img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[,,,1] != 0,      </a:t>
            </a:r>
            <a:r>
              <a:rPr lang="en-US" sz="2200" dirty="0">
                <a:cs typeface="Consolas" panose="020B0609020204030204" pitchFamily="49" charset="0"/>
              </a:rPr>
              <a:t>(X: 133,056 x 300)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cs typeface="Consolas" panose="020B0609020204030204" pitchFamily="49" charset="0"/>
              </a:rPr>
              <a:t>Reshape to time x voxels</a:t>
            </a:r>
          </a:p>
        </p:txBody>
      </p:sp>
    </p:spTree>
    <p:extLst>
      <p:ext uri="{BB962C8B-B14F-4D97-AF65-F5344CB8AC3E}">
        <p14:creationId xmlns:p14="http://schemas.microsoft.com/office/powerpoint/2010/main" val="759452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68476-CD21-F7A9-D8A2-C62C0B590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Why Use PCA Before Change Point Detection</a:t>
            </a:r>
          </a:p>
        </p:txBody>
      </p:sp>
      <p:pic>
        <p:nvPicPr>
          <p:cNvPr id="7" name="Picture 6" descr="A graph showing a number of principal components&#10;&#10;AI-generated content may be incorrect.">
            <a:extLst>
              <a:ext uri="{FF2B5EF4-FFF2-40B4-BE49-F238E27FC236}">
                <a16:creationId xmlns:a16="http://schemas.microsoft.com/office/drawing/2014/main" id="{3EFEAC41-8EE3-59FC-2967-128FDA0D6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1552" y="3337489"/>
            <a:ext cx="4417537" cy="31553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8E37763-69CB-B4F1-D018-264EBC3F944C}"/>
              </a:ext>
            </a:extLst>
          </p:cNvPr>
          <p:cNvSpPr txBox="1"/>
          <p:nvPr/>
        </p:nvSpPr>
        <p:spPr>
          <a:xfrm>
            <a:off x="672623" y="1690688"/>
            <a:ext cx="100664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Apply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pca_fit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&lt;-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prcomp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(X,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= TRUE, scale. = TRUE)</a:t>
            </a:r>
          </a:p>
          <a:p>
            <a:endParaRPr lang="en-GB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Decided on k = 219 PCs                                    (Z: 300 x 219)!!!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7EB9BAC-C22E-C7B6-151A-5026C90831F4}"/>
              </a:ext>
            </a:extLst>
          </p:cNvPr>
          <p:cNvCxnSpPr>
            <a:cxnSpLocks/>
          </p:cNvCxnSpPr>
          <p:nvPr/>
        </p:nvCxnSpPr>
        <p:spPr>
          <a:xfrm>
            <a:off x="4770120" y="2621280"/>
            <a:ext cx="11003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8480E22C-8DD6-5D34-D323-99D74BBF4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317" y="3337489"/>
            <a:ext cx="4275537" cy="3053955"/>
          </a:xfrm>
          <a:prstGeom prst="rect">
            <a:avLst/>
          </a:prstGeom>
        </p:spPr>
      </p:pic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F0D9DC12-3810-B5FC-6DC1-662876715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885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817A2-41CA-1431-FF14-64CBB7584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PCA Representation of the fMRI Time Series</a:t>
            </a:r>
          </a:p>
        </p:txBody>
      </p:sp>
      <p:pic>
        <p:nvPicPr>
          <p:cNvPr id="5" name="Content Placeholder 4" descr="A graph showing different colored lines&#10;&#10;AI-generated content may be incorrect.">
            <a:extLst>
              <a:ext uri="{FF2B5EF4-FFF2-40B4-BE49-F238E27FC236}">
                <a16:creationId xmlns:a16="http://schemas.microsoft.com/office/drawing/2014/main" id="{6E876C8A-C418-0BA2-B8C8-09989ACFF4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73535" y="1577657"/>
            <a:ext cx="6881305" cy="491521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EC1698-E57E-B736-CD59-E4E113C8B82D}"/>
              </a:ext>
            </a:extLst>
          </p:cNvPr>
          <p:cNvSpPr txBox="1"/>
          <p:nvPr/>
        </p:nvSpPr>
        <p:spPr>
          <a:xfrm>
            <a:off x="396239" y="2011680"/>
            <a:ext cx="477729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Each column of Z is a PC over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Each PC progressively explains less variance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By PC219, the variation is small and the signal is more stable over time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76464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86" end="1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4F53E-FBEA-D968-EA4A-F02370600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Comparison with Standard R Methods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7861AD4-FBEA-D5BC-57CD-D9740FC419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2787435"/>
              </p:ext>
            </p:extLst>
          </p:nvPr>
        </p:nvGraphicFramePr>
        <p:xfrm>
          <a:off x="838200" y="3429000"/>
          <a:ext cx="10515600" cy="2589756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22433182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4665821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4320465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10887459"/>
                    </a:ext>
                  </a:extLst>
                </a:gridCol>
              </a:tblGrid>
              <a:tr h="48741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1923971"/>
                  </a:ext>
                </a:extLst>
              </a:tr>
              <a:tr h="487419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126 CPs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765572"/>
                  </a:ext>
                </a:extLst>
              </a:tr>
              <a:tr h="487419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BinSeg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15, 60, 162, 197, 249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9436057"/>
                  </a:ext>
                </a:extLst>
              </a:tr>
              <a:tr h="487419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First 5 PCs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31, 62, 92, 133, 163, 198, 242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395123"/>
                  </a:ext>
                </a:extLst>
              </a:tr>
              <a:tr h="487419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Kernel/MMD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First 5 PCs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92594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B58BF81-6571-4B72-B585-C3A22119D06C}"/>
              </a:ext>
            </a:extLst>
          </p:cNvPr>
          <p:cNvSpPr txBox="1"/>
          <p:nvPr/>
        </p:nvSpPr>
        <p:spPr>
          <a:xfrm>
            <a:off x="838200" y="1795189"/>
            <a:ext cx="673249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Using: Subject 01, no-feedback, run 01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/>
              <a:t>Possible agreement around the mid-160s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425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68CF6-E48B-082E-061D-C8F0D850A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Graph-Based Change Point Detection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5EF44E-4081-FFE3-3C8F-2C0EB98BB7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9560" y="1830702"/>
                <a:ext cx="6762750" cy="483425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Start with the PCA score matrix Z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en-US" dirty="0"/>
                  <a:t>Each time point becomes a graph node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r>
                  <a:rPr lang="en-US" dirty="0"/>
                  <a:t>Compare time points using: </a:t>
                </a:r>
              </a:p>
              <a:p>
                <a:pPr marL="0" indent="0">
                  <a:buNone/>
                </a:pPr>
                <a:r>
                  <a:rPr lang="en-US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𝑜𝑟𝑖𝑔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𝑜𝑟𝑖𝑔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[0,2]</m:t>
                    </m:r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r>
                  <a:rPr lang="en-US" dirty="0"/>
                  <a:t>Build a minimum spanning tree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𝑜𝑟𝑖𝑔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Use gseg1 to estimate the change point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5EF44E-4081-FFE3-3C8F-2C0EB98BB7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9560" y="1830702"/>
                <a:ext cx="6762750" cy="4834255"/>
              </a:xfrm>
              <a:blipFill>
                <a:blip r:embed="rId2"/>
                <a:stretch>
                  <a:fillRect l="-1689" t="-2362" b="-2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structure of orange dots&#10;&#10;AI-generated content may be incorrect.">
            <a:extLst>
              <a:ext uri="{FF2B5EF4-FFF2-40B4-BE49-F238E27FC236}">
                <a16:creationId xmlns:a16="http://schemas.microsoft.com/office/drawing/2014/main" id="{29201DCE-1398-9204-D4CC-66E939827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829223"/>
            <a:ext cx="5334001" cy="4148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458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3EB0B-DEC6-71E6-1FDC-B8117BF52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Temporally Weighted Graph Construction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5DDBC6-2C6D-7D66-53D0-8428E31438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Original graph distance ignores time ordering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Add normalized temporal separation: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𝑡𝑖𝑚𝑒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r>
                  <a:rPr lang="en-GB" dirty="0"/>
                  <a:t>Combine feature distance with temporal penalty</a:t>
                </a:r>
                <a:r>
                  <a:rPr lang="en-US" dirty="0"/>
                  <a:t>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𝑜𝑟𝑖𝑔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𝑡𝑖𝑚𝑒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r>
                  <a:rPr lang="en-US" dirty="0"/>
                  <a:t>Apply the same graph scan statistic to the weighted MST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5DDBC6-2C6D-7D66-53D0-8428E31438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6381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1B2AE-7BDA-05CE-DEF7-31CC023EF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Original Graph-Based Result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56285BA3-CC76-EDC5-3458-9564595C9E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0825"/>
                <a:ext cx="10515600" cy="4351338"/>
              </a:xfrm>
            </p:spPr>
            <p:txBody>
              <a:bodyPr/>
              <a:lstStyle/>
              <a:p>
                <a:r>
                  <a:rPr lang="en-US" sz="2400" dirty="0"/>
                  <a:t>Subject 01, no-feedback, run 01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en-GB" dirty="0"/>
                  <a:t>Original graph method estimated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𝑜𝑟𝑖𝑔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=267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56285BA3-CC76-EDC5-3458-9564595C9E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0825"/>
                <a:ext cx="10515600" cy="4351338"/>
              </a:xfrm>
              <a:blipFill>
                <a:blip r:embed="rId2"/>
                <a:stretch>
                  <a:fillRect l="-844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A graph showing the results of a graph&#10;&#10;AI-generated content may be incorrect.">
            <a:extLst>
              <a:ext uri="{FF2B5EF4-FFF2-40B4-BE49-F238E27FC236}">
                <a16:creationId xmlns:a16="http://schemas.microsoft.com/office/drawing/2014/main" id="{61DF0A3E-9C21-CCC4-2FFB-72A755AAF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240" y="2704647"/>
            <a:ext cx="5303520" cy="378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891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EDEA6-1EA7-DA77-9DC8-8C26B83D9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Effect of Temporal Weighting</a:t>
            </a:r>
          </a:p>
        </p:txBody>
      </p:sp>
      <p:pic>
        <p:nvPicPr>
          <p:cNvPr id="5" name="Content Placeholder 4" descr="A graph showing a change-point between a certain weighting&#10;&#10;AI-generated content may be incorrect.">
            <a:extLst>
              <a:ext uri="{FF2B5EF4-FFF2-40B4-BE49-F238E27FC236}">
                <a16:creationId xmlns:a16="http://schemas.microsoft.com/office/drawing/2014/main" id="{37933496-4DDF-F692-9710-8EA0C00E7A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6545" y="2971800"/>
            <a:ext cx="5438909" cy="3625939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3CA5680-20DB-F2FB-ED79-13C3BD498C1F}"/>
                  </a:ext>
                </a:extLst>
              </p:cNvPr>
              <p:cNvSpPr txBox="1"/>
              <p:nvPr/>
            </p:nvSpPr>
            <p:spPr>
              <a:xfrm>
                <a:off x="838199" y="1690688"/>
                <a:ext cx="8991341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Estimated change point depends on </a:t>
                </a:r>
                <a:r>
                  <a:rPr lang="en-US" sz="2400" dirty="0" err="1"/>
                  <a:t>λ</a:t>
                </a:r>
                <a:endParaRPr lang="en-US" sz="2400" dirty="0"/>
              </a:p>
              <a:p>
                <a:pPr marL="800100" lvl="1" indent="-342900">
                  <a:buFont typeface="Courier New" panose="02070309020205020404" pitchFamily="49" charset="0"/>
                  <a:buChar char="o"/>
                </a:pPr>
                <a:r>
                  <a:rPr lang="en-US" sz="2000" b="0" dirty="0"/>
                  <a:t>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≥0.5</m:t>
                    </m:r>
                  </m:oMath>
                </a14:m>
                <a:r>
                  <a:rPr lang="en-US" sz="2000" dirty="0"/>
                  <a:t>, t</a:t>
                </a:r>
                <a:r>
                  <a:rPr lang="en-GB" sz="2000" dirty="0"/>
                  <a:t>he estimate stabilizes near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2000"/>
                        </m:ctrlPr>
                      </m:accPr>
                      <m:e>
                        <m:r>
                          <a:rPr lang="ar-AE" sz="2000" i="1"/>
                          <m:t>𝜏</m:t>
                        </m:r>
                      </m:e>
                    </m:acc>
                    <m:r>
                      <a:rPr lang="ar-AE" sz="2000"/>
                      <m:t>≈154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3CA5680-20DB-F2FB-ED79-13C3BD498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690688"/>
                <a:ext cx="8991341" cy="769441"/>
              </a:xfrm>
              <a:prstGeom prst="rect">
                <a:avLst/>
              </a:prstGeom>
              <a:blipFill>
                <a:blip r:embed="rId3"/>
                <a:stretch>
                  <a:fillRect l="-846" t="-4839" b="-14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8FD15C2-CB5E-F919-71F7-17529D1D9158}"/>
              </a:ext>
            </a:extLst>
          </p:cNvPr>
          <p:cNvSpPr txBox="1"/>
          <p:nvPr/>
        </p:nvSpPr>
        <p:spPr>
          <a:xfrm>
            <a:off x="5638800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DF4FBE1-F3E5-60F0-B239-BD0CE5EBE9F4}"/>
                  </a:ext>
                </a:extLst>
              </p:cNvPr>
              <p:cNvSpPr txBox="1"/>
              <p:nvPr/>
            </p:nvSpPr>
            <p:spPr>
              <a:xfrm>
                <a:off x="-1" y="3228464"/>
                <a:ext cx="3954186" cy="4010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mtClean="0"/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/>
                              </m:ctrlPr>
                            </m:accPr>
                            <m:e>
                              <m:r>
                                <a:rPr lang="en-US" i="1"/>
                                <m:t>𝜏</m:t>
                              </m:r>
                            </m:e>
                          </m:acc>
                        </m:e>
                        <m:sub>
                          <m:r>
                            <a:rPr lang="en-US" i="1"/>
                            <m:t>𝑜𝑟𝑖𝑔</m:t>
                          </m:r>
                        </m:sub>
                      </m:sSub>
                      <m:r>
                        <a:rPr lang="en-US"/>
                        <m:t>=267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value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3.62 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−63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DF4FBE1-F3E5-60F0-B239-BD0CE5EBE9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3228464"/>
                <a:ext cx="3954186" cy="401072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76D5CB-AE7F-B462-6A7F-46E229E08BD0}"/>
                  </a:ext>
                </a:extLst>
              </p:cNvPr>
              <p:cNvSpPr txBox="1"/>
              <p:nvPr/>
            </p:nvSpPr>
            <p:spPr>
              <a:xfrm>
                <a:off x="8275320" y="5692140"/>
                <a:ext cx="4042410" cy="3962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𝑡𝑒𝑚𝑝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=267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value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=3.79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−63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76D5CB-AE7F-B462-6A7F-46E229E08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320" y="5692140"/>
                <a:ext cx="4042410" cy="396262"/>
              </a:xfrm>
              <a:prstGeom prst="rect">
                <a:avLst/>
              </a:prstGeom>
              <a:blipFill>
                <a:blip r:embed="rId5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7488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A7534-1B7F-7D21-046B-98AB4746E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Estimated Change Points Across Tasks and Subjects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592E92B-7651-CFE7-B7DF-482B78233A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502920" y="2556164"/>
            <a:ext cx="10515600" cy="4301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D6C6B19-B816-4268-5F18-AD9734B645BC}"/>
                  </a:ext>
                </a:extLst>
              </p:cNvPr>
              <p:cNvSpPr txBox="1"/>
              <p:nvPr/>
            </p:nvSpPr>
            <p:spPr>
              <a:xfrm>
                <a:off x="1188720" y="1478280"/>
                <a:ext cx="98298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Temporal weighting improves stability across tasks</a:t>
                </a: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en-GB" dirty="0"/>
                  <a:t>reduces variability in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/>
                        </m:ctrlPr>
                      </m:accPr>
                      <m:e>
                        <m:r>
                          <a:rPr lang="ar-AE" i="1"/>
                          <m:t>𝜏</m:t>
                        </m:r>
                      </m:e>
                    </m:acc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D6C6B19-B816-4268-5F18-AD9734B645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720" y="1478280"/>
                <a:ext cx="9829800" cy="646331"/>
              </a:xfrm>
              <a:prstGeom prst="rect">
                <a:avLst/>
              </a:prstGeom>
              <a:blipFill>
                <a:blip r:embed="rId3"/>
                <a:stretch>
                  <a:fillRect l="-387"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0329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4E6BF-4E30-94E8-A239-6EBCCA768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Interpreting Results in the Experiment Context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8D8ECA2-A8D8-2526-8897-10D28F26B1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6641491"/>
              </p:ext>
            </p:extLst>
          </p:nvPr>
        </p:nvGraphicFramePr>
        <p:xfrm>
          <a:off x="838200" y="4156392"/>
          <a:ext cx="10515598" cy="2021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446524">
                  <a:extLst>
                    <a:ext uri="{9D8B030D-6E8A-4147-A177-3AD203B41FA5}">
                      <a16:colId xmlns:a16="http://schemas.microsoft.com/office/drawing/2014/main" val="1044421429"/>
                    </a:ext>
                  </a:extLst>
                </a:gridCol>
                <a:gridCol w="1056591">
                  <a:extLst>
                    <a:ext uri="{9D8B030D-6E8A-4147-A177-3AD203B41FA5}">
                      <a16:colId xmlns:a16="http://schemas.microsoft.com/office/drawing/2014/main" val="2090942261"/>
                    </a:ext>
                  </a:extLst>
                </a:gridCol>
                <a:gridCol w="1584887">
                  <a:extLst>
                    <a:ext uri="{9D8B030D-6E8A-4147-A177-3AD203B41FA5}">
                      <a16:colId xmlns:a16="http://schemas.microsoft.com/office/drawing/2014/main" val="2884075210"/>
                    </a:ext>
                  </a:extLst>
                </a:gridCol>
                <a:gridCol w="2025133">
                  <a:extLst>
                    <a:ext uri="{9D8B030D-6E8A-4147-A177-3AD203B41FA5}">
                      <a16:colId xmlns:a16="http://schemas.microsoft.com/office/drawing/2014/main" val="468065673"/>
                    </a:ext>
                  </a:extLst>
                </a:gridCol>
                <a:gridCol w="1003945">
                  <a:extLst>
                    <a:ext uri="{9D8B030D-6E8A-4147-A177-3AD203B41FA5}">
                      <a16:colId xmlns:a16="http://schemas.microsoft.com/office/drawing/2014/main" val="970851397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3292480047"/>
                    </a:ext>
                  </a:extLst>
                </a:gridCol>
                <a:gridCol w="1935478">
                  <a:extLst>
                    <a:ext uri="{9D8B030D-6E8A-4147-A177-3AD203B41FA5}">
                      <a16:colId xmlns:a16="http://schemas.microsoft.com/office/drawing/2014/main" val="235193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tauhat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Scan time (sec)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Delay_adjusted</a:t>
                      </a:r>
                      <a:r>
                        <a:rPr lang="en-US" dirty="0"/>
                        <a:t> (sec)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Interpretation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349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Original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Start of 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Late-run change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1887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Start of 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Mid-run change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3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Stabilized 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Middle of 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Mid-run change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133351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38B6ECA-ABCA-089A-5D2A-91AF3DC49BEA}"/>
              </a:ext>
            </a:extLst>
          </p:cNvPr>
          <p:cNvSpPr txBox="1"/>
          <p:nvPr/>
        </p:nvSpPr>
        <p:spPr>
          <a:xfrm>
            <a:off x="1013459" y="1916778"/>
            <a:ext cx="101650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Change point indices were converted into experiment time</a:t>
            </a:r>
          </a:p>
          <a:p>
            <a:endParaRPr lang="en-US" sz="2400" dirty="0"/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 6-second delay was used to compare estimates with task blocks</a:t>
            </a:r>
          </a:p>
        </p:txBody>
      </p:sp>
    </p:spTree>
    <p:extLst>
      <p:ext uri="{BB962C8B-B14F-4D97-AF65-F5344CB8AC3E}">
        <p14:creationId xmlns:p14="http://schemas.microsoft.com/office/powerpoint/2010/main" val="3069400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918B0-F874-0238-1A11-234660117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Limitations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5C0A1-9824-672A-C9AD-6CBDFB84D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  <a:p>
            <a:pPr lvl="1"/>
            <a:r>
              <a:rPr lang="en-US" dirty="0"/>
              <a:t>Change points did not line up exactly with task blocks</a:t>
            </a:r>
          </a:p>
          <a:p>
            <a:pPr lvl="1"/>
            <a:r>
              <a:rPr lang="en-US" dirty="0"/>
              <a:t>Method depends on PCA dimension choice (k)</a:t>
            </a:r>
            <a:br>
              <a:rPr lang="en-US" dirty="0"/>
            </a:b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Future Work</a:t>
            </a:r>
          </a:p>
          <a:p>
            <a:pPr lvl="1"/>
            <a:r>
              <a:rPr lang="en-US" dirty="0"/>
              <a:t>Apply to other fMRI datasets to validate findings</a:t>
            </a:r>
          </a:p>
          <a:p>
            <a:pPr lvl="1"/>
            <a:r>
              <a:rPr lang="en-US" dirty="0"/>
              <a:t>Explore adaptive or data-driven </a:t>
            </a:r>
            <a:r>
              <a:rPr lang="en-US" dirty="0" err="1"/>
              <a:t>λ</a:t>
            </a:r>
            <a:r>
              <a:rPr lang="en-US" dirty="0"/>
              <a:t> selection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855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F8DB9-F42F-43BF-86EA-0697A1B72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62A18-CBE7-CF9A-4B7E-9C3DEB752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Developed a graph-based change point method for fMRI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Temporal weighting stabilized change point estimates</a:t>
            </a:r>
          </a:p>
          <a:p>
            <a:pPr marL="457200" lvl="1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r>
              <a:rPr lang="en-US" dirty="0"/>
              <a:t>Results suggest mid-run shifts in brain activity patterns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Without temporal weighting, distant brain states appear more similar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method opens new avenues for fMRI change point research</a:t>
            </a:r>
          </a:p>
          <a:p>
            <a:pPr marL="91440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187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7750</TotalTime>
  <Words>697</Words>
  <Application>Microsoft Macintosh PowerPoint</Application>
  <PresentationFormat>Widescreen</PresentationFormat>
  <Paragraphs>164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Consolas</vt:lpstr>
      <vt:lpstr>Courier New</vt:lpstr>
      <vt:lpstr>Office Theme</vt:lpstr>
      <vt:lpstr>Graph-Based Change Point Detection in fMRI Data</vt:lpstr>
      <vt:lpstr>Why Use fMRI Data for Graph-Based C-P Detection?</vt:lpstr>
      <vt:lpstr>Experimental Design</vt:lpstr>
      <vt:lpstr>From fMRI Scans to a Time Series</vt:lpstr>
      <vt:lpstr>Data Construction</vt:lpstr>
      <vt:lpstr>Why Use PCA Before Change Point Detection</vt:lpstr>
      <vt:lpstr>PCA Representation of the fMRI Time Series</vt:lpstr>
      <vt:lpstr>Comparison with Standard R Methods</vt:lpstr>
      <vt:lpstr>Graph-Based Change Point Detection</vt:lpstr>
      <vt:lpstr>Temporally Weighted Graph Construction</vt:lpstr>
      <vt:lpstr>Original Graph-Based Result</vt:lpstr>
      <vt:lpstr>Effect of Temporal Weighting</vt:lpstr>
      <vt:lpstr>Estimated Change Points Across Tasks and Subjects</vt:lpstr>
      <vt:lpstr>Interpreting Results in the Experiment Context</vt:lpstr>
      <vt:lpstr>Limitations and Future Work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olson</dc:creator>
  <cp:lastModifiedBy>andrew olson</cp:lastModifiedBy>
  <cp:revision>6</cp:revision>
  <dcterms:created xsi:type="dcterms:W3CDTF">2026-04-26T06:44:54Z</dcterms:created>
  <dcterms:modified xsi:type="dcterms:W3CDTF">2026-05-01T15:55:26Z</dcterms:modified>
</cp:coreProperties>
</file>